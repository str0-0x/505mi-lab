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42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49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C3607-0544-0E25-8E88-F1F3B0BC0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F45D6-A411-267B-B10F-C702E023F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A44C6-5BE6-D2E4-C349-CB26147FE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2F1B4-3FF9-0520-3A70-A369DBE99C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52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7132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LAB  ·  STATIC CODE ANALYSIS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5544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 &amp; SCA on two repositories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opposite risk profiles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58368" y="3063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toolchain, one deliberately-vulnerable app, one clean library to measure what the tools catch, miss, and over-report.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41148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1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389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REPO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32688" y="49377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Juice Shop (fork)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e-commerce, insecure by design (OWASP Top 10).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github.com/&lt;me&gt;/juice-shop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89120" y="41148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38912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66360" y="4389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REPO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681728" y="49377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  v4.1.2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mature terminal-styling library. MIT. No advisories.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github.com/&lt;name&gt;/chalk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138160" y="41148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38912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15400" y="4389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430768" y="49377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·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SonarCloud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the source for insecure code patterns.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·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dependencies for known CVEs.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1 · KNOWN ISSUES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Juice Shop — the ground-truth target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deliberately insecure Node.js / Angular e-commerce app maintained by OWASP.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OWASP Top 10 category is present on purpose injection, broken auth, XSS, and more each mapped to a documented challenge.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 ·  ~130k LOC  ·  public repo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37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REPO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37960" y="21945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bugs are known in advance. </a:t>
            </a: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turns the exercise from “find bugs” into “measure the tools” I can check which real flaws each tool catches (true positives) and what noise it adds.</a:t>
            </a:r>
            <a:endParaRPr lang="en-US" sz="14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benchmark for accuracy. </a:t>
            </a: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density of documented injection/auth flaws makes it a strong stress test for both SAST recall and SCA false positives.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2 · NO KNOWN ISSUES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chalk — the clean control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881360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widely-used terminal string-styling library (hundreds of millions of weekly downloads). MIT-licensed, actively maintained, no security advisories.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dependency tree, 5 packages total: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ansi-styles, supports-color → color-convert, color-name, has-flag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REPO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37960" y="21945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control, not a second bug hunt. </a:t>
            </a: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code this clean, anything a tool reports says more about the tool than the code it exposes the opposite failure mode: over-reporting.</a:t>
            </a:r>
            <a:endParaRPr lang="en-US" sz="14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enough to trust the result. </a:t>
            </a: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five-package tree can be reasoned about by hand, so I can tell a genuine “clean” from a tool that simply isn’t looking.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JUICE SHOP · SAST (SONARCLOUD)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scan output — and why the count isn’t the finding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EEF2F7"/>
          </a:solidFill>
          <a:ln w="15875">
            <a:solidFill>
              <a:srgbClr val="CBD5E1"/>
            </a:solidFill>
            <a:prstDash val="dash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3182112" y="329184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1 — SonarCloud summary: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rating, open issues, hotspots]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92240" y="1645920"/>
            <a:ext cx="5029200" cy="424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issues =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definite rule violations. Security rating [E], 85 open issues.</a:t>
            </a:r>
          </a:p>
          <a:p>
            <a:pPr marL="0" indent="0">
              <a:lnSpc>
                <a:spcPct val="116000"/>
              </a:lnSpc>
              <a:buNone/>
            </a:pPr>
            <a:endParaRPr lang="en-US" sz="1400" dirty="0">
              <a:solidFill>
                <a:srgbClr val="1E293B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endParaRPr lang="en-US" sz="1400" dirty="0">
              <a:solidFill>
                <a:srgbClr val="1E293B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endParaRPr lang="en-US" sz="1400" dirty="0">
              <a:solidFill>
                <a:srgbClr val="1E293B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endParaRPr lang="en-US" sz="1400" dirty="0">
              <a:solidFill>
                <a:srgbClr val="1E293B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ct val="116000"/>
              </a:lnSpc>
              <a:buNone/>
            </a:pP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= </a:t>
            </a: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flagged issues that may or may not be real each needs human review </a:t>
            </a: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raw number isn’t the result.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is triage: which flags are exploitable, and which are noise?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BD3877-58F8-BA9C-D848-7239C62B1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1645920"/>
            <a:ext cx="574852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JUICE SHOP · SAST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true positives — same root cause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562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379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bypass  ·  auth via string-built SQL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31343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Probe: 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login route, email/password reach a DB query.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sink: 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concatenated into  SELECT … WHERE email = '&lt;input&gt;'  (no binding).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real: 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input becomes SQL, so  ' OR 1=1--  logs in as the first user (admin).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55280" y="2258568"/>
            <a:ext cx="3383280" cy="1207008"/>
          </a:xfrm>
          <a:prstGeom prst="roundRect">
            <a:avLst>
              <a:gd name="adj" fmla="val 4545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38658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820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138160" y="26791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parameterised query: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email = ? AND password = ?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0038884-70E8-383C-196F-AF49CA7D5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507" y="3739896"/>
            <a:ext cx="4933950" cy="2676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C1469-7DD6-6E05-0345-6D1835D9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731EC3-B43C-2F89-E0DB-449511648BF8}"/>
              </a:ext>
            </a:extLst>
          </p:cNvPr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JUICE SHOP · SAST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2F4220-F93D-D00B-08A0-428DD239AD71}"/>
              </a:ext>
            </a:extLst>
          </p:cNvPr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true positives — same root cause</a:t>
            </a:r>
            <a:endParaRPr lang="en-US" sz="30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9B6EDF0-44C9-0C9C-A7C7-F51D01927D3F}"/>
              </a:ext>
            </a:extLst>
          </p:cNvPr>
          <p:cNvSpPr/>
          <p:nvPr/>
        </p:nvSpPr>
        <p:spPr>
          <a:xfrm>
            <a:off x="640080" y="379476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1758A039-0181-6D29-A6C8-C4F559050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0792"/>
            <a:ext cx="365760" cy="36576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DBEBBE05-7AEF-0662-DF47-D356EDA8FAA3}"/>
              </a:ext>
            </a:extLst>
          </p:cNvPr>
          <p:cNvSpPr/>
          <p:nvPr/>
        </p:nvSpPr>
        <p:spPr>
          <a:xfrm>
            <a:off x="1371600" y="40325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search  ·  data extraction via LIKE</a:t>
            </a:r>
            <a:endParaRPr lang="en-US" sz="15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DD899A2-74AD-516A-26A0-B3E6E4792639}"/>
              </a:ext>
            </a:extLst>
          </p:cNvPr>
          <p:cNvSpPr/>
          <p:nvPr/>
        </p:nvSpPr>
        <p:spPr>
          <a:xfrm>
            <a:off x="914400" y="450799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Probe: 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 endpoint, the q parameter feeds a LIKE clause.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sink: 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concatenated into  LIKE '%&lt;input&gt;%'  in the products query.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real: 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 → a UNION payload reads arbitrary tables. One root cause, two sinks.</a:t>
            </a:r>
            <a:endParaRPr lang="en-US" sz="12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F715623-0CF0-92C1-C27C-18362A5B88E3}"/>
              </a:ext>
            </a:extLst>
          </p:cNvPr>
          <p:cNvSpPr/>
          <p:nvPr/>
        </p:nvSpPr>
        <p:spPr>
          <a:xfrm>
            <a:off x="7955280" y="4453128"/>
            <a:ext cx="3383280" cy="1207008"/>
          </a:xfrm>
          <a:prstGeom prst="roundRect">
            <a:avLst>
              <a:gd name="adj" fmla="val 4545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3C38718A-C3D6-E5E6-1265-E395A6928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581144"/>
            <a:ext cx="274320" cy="27432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97F3D6C5-4311-2CF8-4D3D-57D126130E83}"/>
              </a:ext>
            </a:extLst>
          </p:cNvPr>
          <p:cNvSpPr/>
          <p:nvPr/>
        </p:nvSpPr>
        <p:spPr>
          <a:xfrm>
            <a:off x="845820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1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1BF6FF8-C0E8-C339-1A52-20AAC51391F1}"/>
              </a:ext>
            </a:extLst>
          </p:cNvPr>
          <p:cNvSpPr/>
          <p:nvPr/>
        </p:nvSpPr>
        <p:spPr>
          <a:xfrm>
            <a:off x="8138160" y="48737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parameterised query: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LIKE ?  OR  description LIKE ?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BBE075E-37EE-ACD5-4579-4856FF1CEB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1547" y="1186098"/>
            <a:ext cx="4906613" cy="245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3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JUICE SHOP · SCA (</a:t>
            </a:r>
            <a:r>
              <a:rPr lang="en-US" sz="1200" b="1" kern="0" spc="200" dirty="0" err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</a:t>
            </a:r>
            <a:r>
              <a:rPr lang="en-US" sz="1200" b="1" kern="0" spc="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supply-chain risk vs. scanner noise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20640" cy="4297680"/>
          </a:xfrm>
          <a:prstGeom prst="roundRect">
            <a:avLst>
              <a:gd name="adj" fmla="val 1277"/>
            </a:avLst>
          </a:prstGeom>
          <a:solidFill>
            <a:srgbClr val="EEF2F7"/>
          </a:solidFill>
          <a:ln w="15875">
            <a:solidFill>
              <a:srgbClr val="CBD5E1"/>
            </a:solidFill>
            <a:prstDash val="dash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2999232" y="329184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4 — Dependency-Check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vulnerable-dependencies table]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16459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BE3E3"/>
          </a:solidFill>
          <a:ln w="12700">
            <a:solidFill>
              <a:srgbClr val="F5C2C2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470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vulnerabilities found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263640" y="228600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Probably because the dependencies are included as the source code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35040" y="37947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CEBD2"/>
          </a:solidFill>
          <a:ln w="12700">
            <a:solidFill>
              <a:srgbClr val="F3D5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9959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7512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C4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some hardcoded secrets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263640" y="4434840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 err="1">
                <a:solidFill>
                  <a:srgbClr val="7C4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</a:t>
            </a:r>
            <a:r>
              <a:rPr lang="en-US" sz="1200" b="1" dirty="0">
                <a:solidFill>
                  <a:srgbClr val="7C4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found some hardcoded secrets left intentionally as the webapp is vulnerable by design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B8B8A1-803A-5BC4-D301-D90F948EA5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" r="1726" b="2103"/>
          <a:stretch>
            <a:fillRect/>
          </a:stretch>
        </p:blipFill>
        <p:spPr>
          <a:xfrm>
            <a:off x="640081" y="1645920"/>
            <a:ext cx="51206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 · SAST (SONARCLOUD)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issues — but what does zero prove?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EEF2F7"/>
          </a:solidFill>
          <a:ln w="15875">
            <a:solidFill>
              <a:srgbClr val="CBD5E1"/>
            </a:solidFill>
            <a:prstDash val="dash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3182112" y="329184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5 — SonarCloud summary for chalk: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A, 0 issues, 0 hotspots]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92240" y="173736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11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93852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security issues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rating A. Clean, as expected.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42900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95160" y="3429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≠ provably secure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492240" y="40233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“0 issues” means no rule in SonarCloud’s free-tier ruleset matched not that the code is safe.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can’t see logic errors, authorization design, or bug classes outside its rules those are potential </a:t>
            </a: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clean result raises confidence; it doesn’t certify.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A461AA-482E-C903-D5B4-1C6F43BF8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645920"/>
            <a:ext cx="5684519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CHALK · SCA (</a:t>
            </a:r>
            <a:r>
              <a:rPr lang="en-US" sz="1200" b="1" kern="0" spc="200" dirty="0" err="1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</a:t>
            </a: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correctly-scoped scan, for contrast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EEF2F7"/>
          </a:solidFill>
          <a:ln w="15875">
            <a:solidFill>
              <a:srgbClr val="CBD5E1"/>
            </a:solidFill>
            <a:prstDash val="dash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3182112" y="329184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6 — Dependency-Check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for chalk]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373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5160" y="1737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packages, scoped to the manifest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492240" y="2331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0 vulnerable dependencies across the 5-package tree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as a control: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 is pointed at chalk’s own package-lock, not a parent directory.</a:t>
            </a:r>
            <a:endParaRPr lang="en-US" sz="14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code + a small current dependency tree = a clean SCA report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E54637-3227-906A-C417-2C738152A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9" y="1645920"/>
            <a:ext cx="5560169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861</Words>
  <Application>Microsoft Office PowerPoint</Application>
  <PresentationFormat>Widescreen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Code Analysis - SAST &amp; SCA</dc:title>
  <dc:subject>PptxGenJS Presentation</dc:subject>
  <dc:creator/>
  <cp:lastModifiedBy>SHARAF ABDELRAHMAN ASHRAF ALY AHMED ATTIA [IN2300029]</cp:lastModifiedBy>
  <cp:revision>2</cp:revision>
  <dcterms:created xsi:type="dcterms:W3CDTF">2026-07-07T19:56:47Z</dcterms:created>
  <dcterms:modified xsi:type="dcterms:W3CDTF">2026-07-07T22:13:22Z</dcterms:modified>
</cp:coreProperties>
</file>